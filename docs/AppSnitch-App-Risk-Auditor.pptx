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  <ns0:embeddedFont>
      <ns0:font typeface="JetBrains Mono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879156b4-9bcb-48ca-a9c1-937eaa254463.fntdata" /><ns0:Relationship Id="rIdFont18" Type="http://schemas.openxmlformats.org/officeDocument/2006/relationships/font" Target="fonts/c66dc280-311d-4ef1-8034-00c049370d6c.fntdata" /><ns0:Relationship Id="rIdFont19" Type="http://schemas.openxmlformats.org/officeDocument/2006/relationships/font" Target="fonts/ff66d195-b232-4919-8b21-8fd41065ef3a.fntdata" /><ns0:Relationship Id="rIdFont20" Type="http://schemas.openxmlformats.org/officeDocument/2006/relationships/font" Target="fonts/0a072df6-56fb-492f-b7a4-e0324e53289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386262"/>
            <a:ext cx="609600" cy="47625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347912"/>
            <a:ext cx="10751343" cy="819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5100" i="0" u="none">
                <a:solidFill>
                  <a:srgbClr val="FFFFFF"/>
                </a:solidFill>
                <a:latin typeface="Plus Jakarta Sans"/>
              </a:rPr>
              <a:t>AppS</a:t>
            </a:r>
            <a:r>
              <a:rPr b="1" sz="5100" i="0" u="none">
                <a:solidFill>
                  <a:srgbClr val="FFFFFF"/>
                </a:solidFill>
                <a:latin typeface="Plus Jakarta Sans"/>
              </a:rPr>
              <a:t>n</a:t>
            </a:r>
            <a:r>
              <a:rPr b="1" sz="5100" i="0" u="none">
                <a:solidFill>
                  <a:srgbClr val="FFFFFF"/>
                </a:solidFill>
                <a:latin typeface="Plus Jakarta Sans"/>
              </a:rPr>
              <a:t>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357562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94A3B8"/>
                </a:solidFill>
                <a:latin typeface="Plus Jakarta Sans"/>
              </a:rPr>
              <a:t>Empowering non-technical users to instantly audit mobile threat exposure on-device.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4310062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JetBrains Mono"/>
              </a:rPr>
              <a:t>PS-01 · Mobile Security · On-Device Risk Auditor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4650"/>
            <a:ext cx="5192017" cy="1933575"/>
          </a:xfrm>
          <a:prstGeom prst="roundRect">
            <a:avLst>
              <a:gd name="adj" fmla="val 788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06417" y="2471737"/>
            <a:ext cx="5475982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06417" y="3462337"/>
            <a:ext cx="5475982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06417" y="4452937"/>
            <a:ext cx="5475982" cy="8382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01 / PROBLEM STATEMENT &amp; ACCEPTANCE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926"/>
                </a:solidFill>
                <a:latin typeface="Plus Jakarta Sans"/>
              </a:rPr>
              <a:t>Translating Cryptic Android Permissions into Clarity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228975"/>
            <a:ext cx="570420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81E1E"/>
                </a:solidFill>
                <a:latin typeface="JetBrains Mono"/>
              </a:rPr>
              <a:t>THE USER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495675"/>
            <a:ext cx="598942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926"/>
                </a:solidFill>
                <a:latin typeface="Plus Jakarta Sans"/>
              </a:rPr>
              <a:t>Technical Jargon Blocks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876675"/>
            <a:ext cx="4658617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B5563"/>
                </a:solidFill>
                <a:latin typeface="Plus Jakarta Sans"/>
              </a:rPr>
              <a:t>Android permissions are opaque constants. Average users cannot gauge security threats or know which background components endanger their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4542" y="2671762"/>
            <a:ext cx="584745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QUESTION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4542" y="2881312"/>
            <a:ext cx="584745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11926"/>
                </a:solidFill>
                <a:latin typeface="Plus Jakarta Sans"/>
              </a:rPr>
              <a:t>Which of my apps can do the most harm?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4542" y="3662362"/>
            <a:ext cx="584745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QUESTION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4542" y="3871912"/>
            <a:ext cx="584745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11926"/>
                </a:solidFill>
                <a:latin typeface="Plus Jakarta Sans"/>
              </a:rPr>
              <a:t>Why is each one flagged? (Plain language)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4542" y="4652962"/>
            <a:ext cx="584745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QUESTION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4542" y="4862512"/>
            <a:ext cx="584745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11926"/>
                </a:solidFill>
                <a:latin typeface="Plus Jakarta Sans"/>
              </a:rPr>
              <a:t>What can I do about it right now?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34075" y="2195512"/>
            <a:ext cx="5648325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33662"/>
            <a:ext cx="5019675" cy="1057275"/>
          </a:xfrm>
          <a:prstGeom prst="roundRect">
            <a:avLst>
              <a:gd name="adj" fmla="val 1261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843337"/>
            <a:ext cx="5019675" cy="1057275"/>
          </a:xfrm>
          <a:prstGeom prst="roundRect">
            <a:avLst>
              <a:gd name="adj" fmla="val 1261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3005137"/>
            <a:ext cx="5019675" cy="390525"/>
          </a:xfrm>
          <a:prstGeom prst="roundRect">
            <a:avLst>
              <a:gd name="adj" fmla="val 19512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3548062"/>
            <a:ext cx="5019675" cy="390525"/>
          </a:xfrm>
          <a:prstGeom prst="roundRect">
            <a:avLst>
              <a:gd name="adj" fmla="val 19512"/>
            </a:avLst>
          </a:prstGeom>
          <a:solidFill>
            <a:srgbClr val="FEF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48400" y="4090987"/>
            <a:ext cx="5019675" cy="390525"/>
          </a:xfrm>
          <a:prstGeom prst="roundRect">
            <a:avLst>
              <a:gd name="adj" fmla="val 19512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400" y="4633912"/>
            <a:ext cx="5019675" cy="390525"/>
          </a:xfrm>
          <a:prstGeom prst="roundRect">
            <a:avLst>
              <a:gd name="adj" fmla="val 19512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02 / SCORING ARCHITECTURE &amp; BANDS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926"/>
                </a:solidFill>
                <a:latin typeface="Plus Jakarta Sans"/>
              </a:rPr>
              <a:t>Four-Stage Risk Computation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2509837"/>
            <a:ext cx="59436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1926"/>
                </a:solidFill>
                <a:latin typeface="Plus Jakarta Sans"/>
              </a:rPr>
              <a:t>Risk Score Bands (0–100)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833687"/>
            <a:ext cx="59632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926"/>
                </a:solidFill>
                <a:latin typeface="Plus Jakarta Sans"/>
              </a:rPr>
              <a:t>Base Weights &amp; Modifiers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090862"/>
            <a:ext cx="46386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Special access (25 pts), SMS (15), Contacts/Camera (10), Location (8). Declared-only at 25% weight.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043362"/>
            <a:ext cx="59632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926"/>
                </a:solidFill>
                <a:latin typeface="Plus Jakarta Sans"/>
              </a:rPr>
              <a:t>Diminishing 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300537"/>
            <a:ext cx="46386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Second and subsequent permissions in any single category count at 50% weight.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1750" y="3100387"/>
            <a:ext cx="657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53725" y="3100387"/>
            <a:ext cx="666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JetBrains Mono"/>
              </a:rPr>
              <a:t>0–24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3643312"/>
            <a:ext cx="904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8475" y="3643312"/>
            <a:ext cx="76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JetBrains Mono"/>
              </a:rPr>
              <a:t>25–49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750" y="4186237"/>
            <a:ext cx="6762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Plus Jakarta Sans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8475" y="4186237"/>
            <a:ext cx="762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2410C"/>
                </a:solidFill>
                <a:latin typeface="JetBrains Mono"/>
              </a:rPr>
              <a:t>50–74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0" y="4729162"/>
            <a:ext cx="971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81E1E"/>
                </a:solidFill>
                <a:latin typeface="Plus Jakarta Sans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3225" y="4729162"/>
            <a:ext cx="857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81E1E"/>
                </a:solidFill>
                <a:latin typeface="JetBrains Mono"/>
              </a:rPr>
              <a:t>75–100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03 / SCORING RUBRIC · BASE WEIGHTS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926"/>
                </a:solidFill>
                <a:latin typeface="Plus Jakarta Sans"/>
              </a:rPr>
              <a:t>Category Weights &amp; Caps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00175"/>
            <a:ext cx="3505200" cy="5000625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400175"/>
            <a:ext cx="3505200" cy="5000625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400175"/>
            <a:ext cx="3505200" cy="5000625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81E1E"/>
                </a:solidFill>
                <a:latin typeface="JetBrains Mono"/>
              </a:rPr>
              <a:t>04 / COMBINATION RULES &amp; ATTACK 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926"/>
                </a:solidFill>
                <a:latin typeface="Plus Jakarta Sans"/>
              </a:rPr>
              <a:t>Detecting Known Malware Tactics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038475"/>
            <a:ext cx="3690937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C81E1E"/>
                </a:solidFill>
                <a:latin typeface="Plus Jakarta Sans"/>
              </a:rPr>
              <a:t>+25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19525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Accessibility + Overlay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133850"/>
            <a:ext cx="3048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Plus Jakarta Sans"/>
              </a:rPr>
              <a:t>Classic banking-trojan pair: read screen data and draw fake login prompts over real apps.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038475"/>
            <a:ext cx="3690937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C2410C"/>
                </a:solidFill>
                <a:latin typeface="Plus Jakarta Sans"/>
              </a:rPr>
              <a:t>+20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819525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OTP Exfiltration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4133850"/>
            <a:ext cx="3048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Plus Jakarta Sans"/>
              </a:rPr>
              <a:t>SMS read + Internet + Boot persistence + Sideloaded package source.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038475"/>
            <a:ext cx="3690937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4200" i="0" u="none">
                <a:solidFill>
                  <a:srgbClr val="D97706"/>
                </a:solidFill>
                <a:latin typeface="Plus Jakarta Sans"/>
              </a:rPr>
              <a:t>+15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819525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Privilege Abuse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133850"/>
            <a:ext cx="3048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Plus Jakarta Sans"/>
              </a:rPr>
              <a:t>Device Admin on non-security app, Notification Listener + Internet, or Accessibility + SMS.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0800"/>
            <a:ext cx="5667375" cy="2619375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19875" y="2614612"/>
            <a:ext cx="4962525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19875" y="3995737"/>
            <a:ext cx="4962525" cy="1190625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05 / CONTEXT MISMATCH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926"/>
                </a:solidFill>
                <a:latin typeface="Plus Jakarta Sans"/>
              </a:rPr>
              <a:t>Purpose vs. Permission Mismatch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943225"/>
            <a:ext cx="6203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81E1E"/>
                </a:solidFill>
                <a:latin typeface="JetBrains Mono"/>
              </a:rPr>
              <a:t>THE CLASSIC TORCH 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248025"/>
            <a:ext cx="6513314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11926"/>
                </a:solidFill>
                <a:latin typeface="Plus Jakarta Sans"/>
              </a:rPr>
              <a:t>Flashlights Asking for SMS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771900"/>
            <a:ext cx="5057775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4B5563"/>
                </a:solidFill>
                <a:latin typeface="Plus Jakarta Sans"/>
              </a:rPr>
              <a:t>Torch, scanner, calculator, wallpaper, clock, notepad or game apps holding SMS, contacts, mic, or special access trigger an immediate </a:t>
            </a:r>
            <a:r>
              <a:rPr b="1" sz="1425" i="0" u="none">
                <a:solidFill>
                  <a:srgbClr val="4B5563"/>
                </a:solidFill>
                <a:latin typeface="Plus Jakarta Sans"/>
              </a:rPr>
              <a:t>+20 penalty</a:t>
            </a:r>
            <a:r>
              <a:rPr b="0" sz="1425" i="0" u="none">
                <a:solidFill>
                  <a:srgbClr val="4B5563"/>
                </a:solidFill>
                <a:latin typeface="Plus Jakarta Sans"/>
              </a:rPr>
              <a:t> and force a minimum </a:t>
            </a:r>
            <a:r>
              <a:rPr b="1" sz="1425" i="0" u="none">
                <a:solidFill>
                  <a:srgbClr val="4B5563"/>
                </a:solidFill>
                <a:latin typeface="Plus Jakarta Sans"/>
              </a:rPr>
              <a:t>High band</a:t>
            </a:r>
            <a:r>
              <a:rPr b="0" sz="1425" i="0" u="none">
                <a:solidFill>
                  <a:srgbClr val="4B5563"/>
                </a:solidFill>
                <a:latin typeface="Plus Jakarta Sans"/>
              </a:rPr>
              <a:t>. System apps are exempt.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52737"/>
            <a:ext cx="5334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Utility + Sensitive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148012"/>
            <a:ext cx="45815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Plus Jakarta Sans"/>
              </a:rPr>
              <a:t>Simple tools rarely need message access. Mismatch signals a rogue app.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233862"/>
            <a:ext cx="53340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Enforced Band Floor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9137"/>
            <a:ext cx="45815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Plus Jakarta Sans"/>
              </a:rPr>
              <a:t>Guarantees misaligned apps surface immediately at the top of the risk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33675"/>
            <a:ext cx="5372100" cy="1152525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733675"/>
            <a:ext cx="5372100" cy="1152525"/>
          </a:xfrm>
          <a:prstGeom prst="roundRect">
            <a:avLst>
              <a:gd name="adj" fmla="val 1322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76700"/>
            <a:ext cx="53721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76700"/>
            <a:ext cx="5372100" cy="9525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57537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157537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40055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40055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06 / TRUST MODIFIERS &amp; REDUCERS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926"/>
                </a:solidFill>
                <a:latin typeface="Plus Jakarta Sans"/>
              </a:rPr>
              <a:t>Origin Source &amp; System App Dampening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0175" y="2971800"/>
            <a:ext cx="570071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Sideloaded Source (+10)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0175" y="3248025"/>
            <a:ext cx="44386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Installed outside official stores with no upstream safety check.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675" y="2971800"/>
            <a:ext cx="52673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Legacy SDK &lt; 23 (+10)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675" y="3248025"/>
            <a:ext cx="4514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72031"/>
                </a:solidFill>
                <a:latin typeface="Plus Jakarta Sans"/>
              </a:rPr>
              <a:t>Predates runtime permissions; receives all permissions at install.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" y="4314825"/>
            <a:ext cx="468808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Trusted Store (−10)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3975" y="4591050"/>
            <a:ext cx="4464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Google Play store provenance reduces risk score.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4675" y="4314825"/>
            <a:ext cx="496312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System App (−15)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675" y="4591050"/>
            <a:ext cx="4726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B5563"/>
                </a:solidFill>
                <a:latin typeface="Plus Jakarta Sans"/>
              </a:rPr>
              <a:t>Pre-installed system apps reduced and floored at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76512"/>
            <a:ext cx="53340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76512"/>
            <a:ext cx="5334000" cy="2647950"/>
          </a:xfrm>
          <a:prstGeom prst="roundRect">
            <a:avLst>
              <a:gd name="adj" fmla="val 575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62325"/>
            <a:ext cx="152400" cy="18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933825"/>
            <a:ext cx="15240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505325"/>
            <a:ext cx="152400" cy="180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3362325"/>
            <a:ext cx="15240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3933825"/>
            <a:ext cx="15240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4505325"/>
            <a:ext cx="15240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07 / HARD CONSTRAINTS &amp; 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926"/>
                </a:solidFill>
                <a:latin typeface="Plus Jakarta Sans"/>
              </a:rPr>
              <a:t>Zero-Network Privacy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890837"/>
            <a:ext cx="617577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11926"/>
                </a:solidFill>
                <a:latin typeface="Plus Jakarta Sans"/>
              </a:rPr>
              <a:t>On-Device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2890837"/>
            <a:ext cx="5629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11926"/>
                </a:solidFill>
                <a:latin typeface="Plus Jakarta Sans"/>
              </a:rPr>
              <a:t>Visibility &amp;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328987"/>
            <a:ext cx="4800600" cy="4381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Plus Jakarta Sans"/>
              </a:rPr>
              <a:t>No Root / No ADB:</a:t>
            </a:r>
            <a:r>
              <a:rPr b="0" sz="1350" i="0" u="none">
                <a:solidFill>
                  <a:srgbClr val="4B5563"/>
                </a:solidFill>
                <a:latin typeface="Plus Jakarta Sans"/>
              </a:rPr>
              <a:t> Works entirely through standard public APIs.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900487"/>
            <a:ext cx="4800600" cy="4381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Plus Jakarta Sans"/>
              </a:rPr>
              <a:t>Zero Data Leaves Device:</a:t>
            </a:r>
            <a:r>
              <a:rPr b="0" sz="1350" i="0" u="none">
                <a:solidFill>
                  <a:srgbClr val="4B5563"/>
                </a:solidFill>
                <a:latin typeface="Plus Jakarta Sans"/>
              </a:rPr>
              <a:t> No analytics, crash SDKs, or cloud uploads.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471987"/>
            <a:ext cx="4800600" cy="4381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Plus Jakarta Sans"/>
              </a:rPr>
              <a:t>Offline First:</a:t>
            </a:r>
            <a:r>
              <a:rPr b="0" sz="1350" i="0" u="none">
                <a:solidFill>
                  <a:srgbClr val="4B5563"/>
                </a:solidFill>
                <a:latin typeface="Plus Jakarta Sans"/>
              </a:rPr>
              <a:t> Full scanning and score explanation in airplane mode.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2725" y="3328987"/>
            <a:ext cx="4800600" cy="4381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Plus Jakarta Sans"/>
              </a:rPr>
              <a:t>QUERY_ALL_PACKAGES:</a:t>
            </a:r>
            <a:r>
              <a:rPr b="0" sz="1350" i="0" u="none">
                <a:solidFill>
                  <a:srgbClr val="4B5563"/>
                </a:solidFill>
                <a:latin typeface="Plus Jakarta Sans"/>
              </a:rPr>
              <a:t> Declared for complete inventory visibility.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900487"/>
            <a:ext cx="4800600" cy="4381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Plus Jakarta Sans"/>
              </a:rPr>
              <a:t>No Live Malware:</a:t>
            </a:r>
            <a:r>
              <a:rPr b="0" sz="1350" i="0" u="none">
                <a:solidFill>
                  <a:srgbClr val="4B5563"/>
                </a:solidFill>
                <a:latin typeface="Plus Jakarta Sans"/>
              </a:rPr>
              <a:t> Safe demonstration on over-permissioned benign apps.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2725" y="4471987"/>
            <a:ext cx="4800600" cy="43815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B5563"/>
                </a:solidFill>
                <a:latin typeface="Plus Jakarta Sans"/>
              </a:rPr>
              <a:t>Optional Hash Lookups:</a:t>
            </a:r>
            <a:r>
              <a:rPr b="0" sz="1350" i="0" u="none">
                <a:solidFill>
                  <a:srgbClr val="4B5563"/>
                </a:solidFill>
                <a:latin typeface="Plus Jakarta Sans"/>
              </a:rPr>
              <a:t> Strictly opt-in with explicit user consent.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7512"/>
            <a:ext cx="1717625" cy="1885950"/>
          </a:xfrm>
          <a:prstGeom prst="roundRect">
            <a:avLst>
              <a:gd name="adj" fmla="val 776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460575" y="3076575"/>
            <a:ext cx="1717625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1550" y="3076575"/>
            <a:ext cx="1717625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62526" y="3076575"/>
            <a:ext cx="1717625" cy="1647825"/>
          </a:xfrm>
          <a:prstGeom prst="roundRect">
            <a:avLst>
              <a:gd name="adj" fmla="val 809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13501" y="3076575"/>
            <a:ext cx="1717625" cy="1647825"/>
          </a:xfrm>
          <a:prstGeom prst="roundRect">
            <a:avLst>
              <a:gd name="adj" fmla="val 8092"/>
            </a:avLst>
          </a:prstGeom>
          <a:solidFill>
            <a:srgbClr val="FDE8E8"/>
          </a:solidFill>
          <a:ln w="9525">
            <a:solidFill>
              <a:srgbClr val="F8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64476" y="3181350"/>
            <a:ext cx="1717625" cy="1438275"/>
          </a:xfrm>
          <a:prstGeom prst="roundRect">
            <a:avLst>
              <a:gd name="adj" fmla="val 927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08 / HACKATHON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11926"/>
                </a:solidFill>
                <a:latin typeface="Plus Jakarta Sans"/>
              </a:rPr>
              <a:t>Six-Hour Build &amp; Demo 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176587"/>
            <a:ext cx="17422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JetBrains Mono"/>
              </a:rPr>
              <a:t>HR 0.0–1.5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443287"/>
            <a:ext cx="1563476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Inventory &amp;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995737"/>
            <a:ext cx="148902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Plus Jakarta Sans"/>
              </a:rPr>
              <a:t>Data classes and PackageManager extraction.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2500" y="3295650"/>
            <a:ext cx="17422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JetBrains Mono"/>
              </a:rPr>
              <a:t>HR 1.5–2.5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2500" y="3562350"/>
            <a:ext cx="18293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Special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2500" y="3876675"/>
            <a:ext cx="148902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Plus Jakarta Sans"/>
              </a:rPr>
              <a:t>Accessibility, Admin, and AppOps states.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3475" y="3295650"/>
            <a:ext cx="17422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JetBrains Mono"/>
              </a:rPr>
              <a:t>HR 2.5–3.5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3475" y="3562350"/>
            <a:ext cx="18293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Scoring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3475" y="3876675"/>
            <a:ext cx="148902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Plus Jakarta Sans"/>
              </a:rPr>
              <a:t>Weights, combos, and reasons engine.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51" y="3295650"/>
            <a:ext cx="17422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6A34A"/>
                </a:solidFill>
                <a:latin typeface="JetBrains Mono"/>
              </a:rPr>
              <a:t>HR 3.5–4.5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451" y="3562350"/>
            <a:ext cx="18293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AppS</a:t>
            </a:r>
            <a:r>
              <a:rPr b="1" sz="1500" i="0" u="none">
                <a:solidFill>
                  <a:srgbClr val="111926"/>
                </a:solidFill>
                <a:latin typeface="Plus Jakarta Sans"/>
              </a:rPr>
              <a:t>n</a:t>
            </a:r>
            <a:r>
              <a:rPr b="1" sz="1500" i="0" u="none">
                <a:solidFill>
                  <a:srgbClr val="111926"/>
                </a:solidFill>
                <a:latin typeface="Plus Jakarta Sans"/>
              </a:rPr>
              <a:t>itch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4451" y="3876675"/>
            <a:ext cx="148902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Plus Jakarta Sans"/>
              </a:rPr>
              <a:t>Scan, risk breakdown, and settings tabs.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5426" y="3295650"/>
            <a:ext cx="17422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81E1E"/>
                </a:solidFill>
                <a:latin typeface="JetBrains Mono"/>
              </a:rPr>
              <a:t>HR 4.5–5.0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5426" y="3562350"/>
            <a:ext cx="18293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B1C1C"/>
                </a:solidFill>
                <a:latin typeface="Plus Jakarta Sans"/>
              </a:rPr>
              <a:t>Ship APK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5426" y="3876675"/>
            <a:ext cx="148902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7F1D1D"/>
                </a:solidFill>
                <a:latin typeface="Plus Jakarta Sans"/>
              </a:rPr>
              <a:t>Installed on judging device (hard deadline).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6401" y="3400425"/>
            <a:ext cx="17422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11926"/>
                </a:solidFill>
                <a:latin typeface="JetBrains Mono"/>
              </a:rPr>
              <a:t>HR 5.0–6.0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26401" y="3667125"/>
            <a:ext cx="182933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1926"/>
                </a:solidFill>
                <a:latin typeface="Plus Jakarta Sans"/>
              </a:rPr>
              <a:t>Rehearsal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26401" y="3981450"/>
            <a:ext cx="1489025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B5563"/>
                </a:solidFill>
                <a:latin typeface="Plus Jakarta Sans"/>
              </a:rPr>
              <a:t>3-minute timed demo on test kit.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91200" y="4291012"/>
            <a:ext cx="609600" cy="47625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7807" y="2519362"/>
            <a:ext cx="11076384" cy="666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FFFFF"/>
                </a:solidFill>
                <a:latin typeface="Plus Jakarta Sans"/>
              </a:rPr>
              <a:t>AppS</a:t>
            </a:r>
            <a:r>
              <a:rPr b="1" sz="4200" i="0" u="none">
                <a:solidFill>
                  <a:srgbClr val="FFFFFF"/>
                </a:solidFill>
                <a:latin typeface="Plus Jakarta Sans"/>
              </a:rPr>
              <a:t>n</a:t>
            </a:r>
            <a:r>
              <a:rPr b="1" sz="4200" i="0" u="none">
                <a:solidFill>
                  <a:srgbClr val="FFFFFF"/>
                </a:solidFill>
                <a:latin typeface="Plus Jakarta Sans"/>
              </a:rPr>
              <a:t>itch: Ready for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414712"/>
            <a:ext cx="8096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Plus Jakarta Sans"/>
              </a:rPr>
              <a:t>Answering what matters: Which app is dangerous, why, and how to fix it in 60 seconds.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